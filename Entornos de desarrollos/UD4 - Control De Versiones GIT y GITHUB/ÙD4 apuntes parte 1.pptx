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544" r:id="rId7"/>
    <p:sldId id="262" r:id="rId8"/>
    <p:sldId id="263" r:id="rId9"/>
    <p:sldId id="307" r:id="rId10"/>
    <p:sldId id="308" r:id="rId11"/>
    <p:sldId id="309" r:id="rId12"/>
    <p:sldId id="543" r:id="rId13"/>
    <p:sldId id="504" r:id="rId14"/>
    <p:sldId id="553" r:id="rId15"/>
    <p:sldId id="554" r:id="rId16"/>
    <p:sldId id="505" r:id="rId17"/>
    <p:sldId id="506" r:id="rId18"/>
    <p:sldId id="545" r:id="rId19"/>
    <p:sldId id="546" r:id="rId20"/>
    <p:sldId id="509" r:id="rId21"/>
    <p:sldId id="510" r:id="rId22"/>
    <p:sldId id="548" r:id="rId23"/>
    <p:sldId id="511" r:id="rId24"/>
    <p:sldId id="549" r:id="rId25"/>
    <p:sldId id="512" r:id="rId2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181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2381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9869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4385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9023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2153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5303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3551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367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0678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5011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3125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9887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906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5682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8396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ran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392A4CC-76D1-4DAD-8B14-B9EEEB169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91829" y="6492876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s-ES" altLang="es-ES" dirty="0"/>
              <a:t>© Ediciones Paraninfo</a:t>
            </a:r>
          </a:p>
        </p:txBody>
      </p:sp>
    </p:spTree>
    <p:extLst>
      <p:ext uri="{BB962C8B-B14F-4D97-AF65-F5344CB8AC3E}">
        <p14:creationId xmlns:p14="http://schemas.microsoft.com/office/powerpoint/2010/main" val="2822278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22441-5844-410A-803B-4C8BB184BACB}" type="datetimeFigureOut">
              <a:rPr lang="es-ES" smtClean="0"/>
              <a:t>27/02/2024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E63BF5F-B746-481F-8852-9D567AA075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90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anuel.cillero.es/doc/apuntes-tic/herramientas/git/guia-basica-comandos-git/#inicializar_un_directorio_local_ya_existente_init" TargetMode="External"/><Relationship Id="rId7" Type="http://schemas.openxmlformats.org/officeDocument/2006/relationships/hyperlink" Target="https://manuel.cillero.es/doc/apuntes-tic/herramientas/git/guia-basica-comandos-git/#descargar_los_ultimos_cambios_del_proyecto_pul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manuel.cillero.es/doc/apuntes-tic/herramientas/git/guia-basica-comandos-git/#enviar_cambios_al_repositorio_remoto_push" TargetMode="External"/><Relationship Id="rId5" Type="http://schemas.openxmlformats.org/officeDocument/2006/relationships/hyperlink" Target="https://manuel.cillero.es/doc/apuntes-tic/herramientas/git/guia-basica-comandos-git/#anadir_y_confirmar_todos_los_cambios_locales" TargetMode="External"/><Relationship Id="rId4" Type="http://schemas.openxmlformats.org/officeDocument/2006/relationships/hyperlink" Target="https://manuel.cillero.es/doc/apuntes-tic/herramientas/git/guia-basica-comandos-git/#anadir_y_confirmar_cambios_locales_add_y_commit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/gui/windows" TargetMode="External"/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4F5D04-3829-4573-81CB-7CEBBD0F1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2558" y="2221547"/>
            <a:ext cx="9144000" cy="1787180"/>
          </a:xfrm>
        </p:spPr>
        <p:txBody>
          <a:bodyPr>
            <a:normAutofit fontScale="90000"/>
          </a:bodyPr>
          <a:lstStyle/>
          <a:p>
            <a:r>
              <a:rPr lang="es-ES" sz="4000" b="1" dirty="0">
                <a:solidFill>
                  <a:schemeClr val="accent1"/>
                </a:solidFill>
              </a:rPr>
              <a:t>TEMA 4 </a:t>
            </a:r>
            <a:br>
              <a:rPr lang="es-ES" sz="4000" b="1" dirty="0">
                <a:solidFill>
                  <a:schemeClr val="accent1"/>
                </a:solidFill>
              </a:rPr>
            </a:br>
            <a:r>
              <a:rPr lang="es-ES" sz="4000" b="1" dirty="0">
                <a:solidFill>
                  <a:schemeClr val="accent1"/>
                </a:solidFill>
              </a:rPr>
              <a:t>CONTROL DE VERSIONES, </a:t>
            </a:r>
            <a:br>
              <a:rPr lang="es-ES" sz="4000" b="1" dirty="0">
                <a:solidFill>
                  <a:schemeClr val="accent1"/>
                </a:solidFill>
              </a:rPr>
            </a:br>
            <a:r>
              <a:rPr lang="es-ES" sz="4000" b="1" dirty="0">
                <a:solidFill>
                  <a:schemeClr val="accent1"/>
                </a:solidFill>
              </a:rPr>
              <a:t>OPTIMIZACIÓN Y DOCUMENTACIÓN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BC5563-015D-46D7-9775-F3AB7325B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9383" y="4777379"/>
            <a:ext cx="3108757" cy="1126283"/>
          </a:xfrm>
        </p:spPr>
        <p:txBody>
          <a:bodyPr/>
          <a:lstStyle/>
          <a:p>
            <a:endParaRPr lang="es-ES" b="1" dirty="0"/>
          </a:p>
          <a:p>
            <a:pPr algn="r"/>
            <a:r>
              <a:rPr lang="es-ES" sz="4000" b="1" dirty="0"/>
              <a:t>1º DAM</a:t>
            </a:r>
          </a:p>
        </p:txBody>
      </p:sp>
    </p:spTree>
    <p:extLst>
      <p:ext uri="{BB962C8B-B14F-4D97-AF65-F5344CB8AC3E}">
        <p14:creationId xmlns:p14="http://schemas.microsoft.com/office/powerpoint/2010/main" val="372714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B8AEA5-60D8-45DA-89E8-136F4A220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1066"/>
          </a:xfrm>
        </p:spPr>
        <p:txBody>
          <a:bodyPr/>
          <a:lstStyle/>
          <a:p>
            <a:pPr algn="ctr"/>
            <a:r>
              <a:rPr lang="es-ES" dirty="0">
                <a:latin typeface="Aharoni" panose="02010803020104030203" pitchFamily="2" charset="-79"/>
                <a:cs typeface="Aharoni" panose="02010803020104030203" pitchFamily="2" charset="-79"/>
              </a:rPr>
              <a:t>Índice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362D627-C6EE-D645-DA70-06DA5A128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1612" y="1745673"/>
            <a:ext cx="8915400" cy="3777622"/>
          </a:xfrm>
        </p:spPr>
        <p:txBody>
          <a:bodyPr>
            <a:normAutofit/>
          </a:bodyPr>
          <a:lstStyle/>
          <a:p>
            <a:r>
              <a:rPr lang="es-ES" sz="4000" b="1" dirty="0">
                <a:solidFill>
                  <a:srgbClr val="0CA8A1"/>
                </a:solidFill>
                <a:latin typeface="+mj-lt"/>
              </a:rPr>
              <a:t>4.1. </a:t>
            </a:r>
            <a:r>
              <a:rPr lang="es-ES" sz="4000" dirty="0">
                <a:solidFill>
                  <a:schemeClr val="tx1"/>
                </a:solidFill>
                <a:latin typeface="+mj-lt"/>
              </a:rPr>
              <a:t>Introducción</a:t>
            </a:r>
          </a:p>
          <a:p>
            <a:pPr algn="l"/>
            <a:r>
              <a:rPr lang="es-ES" sz="4000" b="1" dirty="0">
                <a:solidFill>
                  <a:srgbClr val="0CA8A1"/>
                </a:solidFill>
                <a:latin typeface="+mj-lt"/>
              </a:rPr>
              <a:t>4.2. </a:t>
            </a:r>
            <a:r>
              <a:rPr lang="es-ES" sz="4000" dirty="0">
                <a:solidFill>
                  <a:schemeClr val="tx1"/>
                </a:solidFill>
                <a:latin typeface="+mj-lt"/>
              </a:rPr>
              <a:t>Control de versiones</a:t>
            </a:r>
          </a:p>
          <a:p>
            <a:pPr algn="l"/>
            <a:r>
              <a:rPr lang="es-ES" sz="4000" b="1" dirty="0">
                <a:solidFill>
                  <a:srgbClr val="0CA8A1"/>
                </a:solidFill>
                <a:latin typeface="+mj-lt"/>
              </a:rPr>
              <a:t>4.3.</a:t>
            </a:r>
            <a:r>
              <a:rPr lang="es-ES" sz="4000" dirty="0">
                <a:solidFill>
                  <a:schemeClr val="tx1"/>
                </a:solidFill>
                <a:latin typeface="+mj-lt"/>
              </a:rPr>
              <a:t> Analizadores de código</a:t>
            </a:r>
          </a:p>
          <a:p>
            <a:pPr algn="l"/>
            <a:r>
              <a:rPr lang="es-ES" sz="4000" b="1" dirty="0">
                <a:solidFill>
                  <a:srgbClr val="0CA8A1"/>
                </a:solidFill>
                <a:latin typeface="+mj-lt"/>
              </a:rPr>
              <a:t>4.4. </a:t>
            </a:r>
            <a:r>
              <a:rPr lang="es-ES" sz="4000" dirty="0">
                <a:solidFill>
                  <a:schemeClr val="tx1"/>
                </a:solidFill>
                <a:latin typeface="+mj-lt"/>
              </a:rPr>
              <a:t>Refactorización</a:t>
            </a:r>
          </a:p>
          <a:p>
            <a:pPr algn="l"/>
            <a:r>
              <a:rPr lang="es-ES" sz="4000" b="1" dirty="0">
                <a:solidFill>
                  <a:srgbClr val="0CA8A1"/>
                </a:solidFill>
                <a:latin typeface="+mj-lt"/>
              </a:rPr>
              <a:t>4.5.</a:t>
            </a:r>
            <a:r>
              <a:rPr lang="es-ES" sz="4000" dirty="0">
                <a:solidFill>
                  <a:schemeClr val="tx1"/>
                </a:solidFill>
                <a:latin typeface="+mj-lt"/>
              </a:rPr>
              <a:t> Documentación</a:t>
            </a:r>
          </a:p>
          <a:p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1995397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60EE4-D51B-4F33-A452-E28AE32C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b="1" dirty="0">
                <a:latin typeface="Georgia" panose="02040502050405020303" pitchFamily="18" charset="0"/>
              </a:rPr>
              <a:t>1. 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43E7C7-A56E-45CA-BE4B-F66F639D0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2000" dirty="0"/>
              <a:t>En esta unidad trataremos el control de versiones y para qué se utiliza en la creación de proyectos de software. </a:t>
            </a:r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r>
              <a:rPr lang="es-ES" sz="2000" dirty="0"/>
              <a:t>Usaremos herramientas cliente y servidor y aprenderemos a documentar las clases Java usando </a:t>
            </a:r>
            <a:r>
              <a:rPr lang="es-ES" sz="2000" dirty="0" err="1"/>
              <a:t>Javadoc</a:t>
            </a:r>
            <a:r>
              <a:rPr lang="es-ES" sz="2000" dirty="0"/>
              <a:t>.</a:t>
            </a:r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r>
              <a:rPr lang="es-ES" sz="2000" dirty="0"/>
              <a:t> Por último, abordaremos el concepto de refactorización y por qué es necesario refactorizar. </a:t>
            </a:r>
          </a:p>
        </p:txBody>
      </p:sp>
    </p:spTree>
    <p:extLst>
      <p:ext uri="{BB962C8B-B14F-4D97-AF65-F5344CB8AC3E}">
        <p14:creationId xmlns:p14="http://schemas.microsoft.com/office/powerpoint/2010/main" val="384755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60EE4-D51B-4F33-A452-E28AE32C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b="1" dirty="0">
                <a:latin typeface="Georgia" panose="02040502050405020303" pitchFamily="18" charset="0"/>
              </a:rPr>
              <a:t>1. 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43E7C7-A56E-45CA-BE4B-F66F639D0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0049" y="1759527"/>
            <a:ext cx="8915400" cy="465512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000" dirty="0">
                <a:cs typeface="Aharoni" panose="02010803020104030203" pitchFamily="2" charset="-79"/>
              </a:rPr>
              <a:t>El </a:t>
            </a:r>
            <a:r>
              <a:rPr lang="es-ES" sz="2000" b="1" dirty="0">
                <a:cs typeface="Aharoni" panose="02010803020104030203" pitchFamily="2" charset="-79"/>
              </a:rPr>
              <a:t>objetivo</a:t>
            </a:r>
            <a:r>
              <a:rPr lang="es-ES" sz="2000" dirty="0">
                <a:cs typeface="Aharoni" panose="02010803020104030203" pitchFamily="2" charset="-79"/>
              </a:rPr>
              <a:t> es que </a:t>
            </a:r>
            <a:r>
              <a:rPr lang="es-ES" sz="2000" b="1" dirty="0">
                <a:cs typeface="Aharoni" panose="02010803020104030203" pitchFamily="2" charset="-79"/>
              </a:rPr>
              <a:t>aprendáis a manejar herramientas </a:t>
            </a:r>
            <a:r>
              <a:rPr lang="es-ES" sz="2000" dirty="0">
                <a:cs typeface="Aharoni" panose="02010803020104030203" pitchFamily="2" charset="-79"/>
              </a:rPr>
              <a:t>de control de versiones, herramientas para documentar los programas y herramientas de refactorización.</a:t>
            </a:r>
          </a:p>
          <a:p>
            <a:pPr marL="0" indent="0" algn="just">
              <a:buNone/>
            </a:pPr>
            <a:endParaRPr lang="es-ES" sz="2000" dirty="0">
              <a:cs typeface="Aharoni" panose="02010803020104030203" pitchFamily="2" charset="-79"/>
            </a:endParaRPr>
          </a:p>
          <a:p>
            <a:pPr marL="0" indent="0" algn="just">
              <a:buNone/>
            </a:pPr>
            <a:r>
              <a:rPr lang="es-ES" sz="2000" b="1" dirty="0">
                <a:cs typeface="Aharoni" panose="02010803020104030203" pitchFamily="2" charset="-79"/>
              </a:rPr>
              <a:t>Utilizando estas herramientas podemos ver la trazabilidad de todos los cambios que han sufrido a lo largo de su vida y quienes han realizado dichos cambios.</a:t>
            </a:r>
          </a:p>
          <a:p>
            <a:pPr marL="0" indent="0" algn="just">
              <a:buNone/>
            </a:pPr>
            <a:endParaRPr lang="es-ES" sz="2000" dirty="0">
              <a:cs typeface="Aharoni" panose="02010803020104030203" pitchFamily="2" charset="-79"/>
            </a:endParaRPr>
          </a:p>
          <a:p>
            <a:pPr marL="0" indent="0" algn="just">
              <a:buNone/>
            </a:pPr>
            <a:r>
              <a:rPr lang="es-ES" sz="2000" dirty="0">
                <a:cs typeface="Aharoni" panose="02010803020104030203" pitchFamily="2" charset="-79"/>
              </a:rPr>
              <a:t>También garantizamos así que los proyectos estén bien documentados informando de que hace cada clase o método que los forma y bien refactorizados simplificando el código de los programas y favoreciendo su lectura, entendimiento y fácil mantenimiento.</a:t>
            </a:r>
          </a:p>
        </p:txBody>
      </p:sp>
    </p:spTree>
    <p:extLst>
      <p:ext uri="{BB962C8B-B14F-4D97-AF65-F5344CB8AC3E}">
        <p14:creationId xmlns:p14="http://schemas.microsoft.com/office/powerpoint/2010/main" val="1846246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23AE8-84BF-4306-9CEC-85AD3B99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b="1" dirty="0">
                <a:latin typeface="Georgia" panose="02040502050405020303" pitchFamily="18" charset="0"/>
              </a:rPr>
              <a:t>2. Control de Versiones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D176B25-32EE-57A2-60BD-8D4EFC064B4E}"/>
              </a:ext>
            </a:extLst>
          </p:cNvPr>
          <p:cNvSpPr txBox="1"/>
          <p:nvPr/>
        </p:nvSpPr>
        <p:spPr>
          <a:xfrm>
            <a:off x="2724553" y="2263107"/>
            <a:ext cx="906566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DE7E18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s-E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Objetivos </a:t>
            </a:r>
            <a:r>
              <a:rPr kumimoji="0" lang="es-E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de la </a:t>
            </a:r>
            <a:r>
              <a:rPr kumimoji="0" lang="es-E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gestión de la configuración del software (GCS) </a:t>
            </a:r>
            <a:r>
              <a:rPr kumimoji="0" lang="es-E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para cada cambio: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Identificar el cambio.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Controlar el cambio.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Garantizar que el cambio se implemente bien.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Informar del cambio a todos los afectados.</a:t>
            </a:r>
          </a:p>
        </p:txBody>
      </p:sp>
    </p:spTree>
    <p:extLst>
      <p:ext uri="{BB962C8B-B14F-4D97-AF65-F5344CB8AC3E}">
        <p14:creationId xmlns:p14="http://schemas.microsoft.com/office/powerpoint/2010/main" val="2633040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23AE8-84BF-4306-9CEC-85AD3B99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b="1" dirty="0">
                <a:latin typeface="Georgia" panose="02040502050405020303" pitchFamily="18" charset="0"/>
              </a:rPr>
              <a:t>2. Control de Versiones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652246-418E-4929-9DA2-46DF2F1E0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074" y="1666337"/>
            <a:ext cx="10515600" cy="509468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000" dirty="0"/>
              <a:t>El control de versiones es la </a:t>
            </a:r>
            <a:r>
              <a:rPr lang="es-ES" sz="2000" b="1" u="sng" dirty="0"/>
              <a:t>capacidad de poder recordar todos los cambios que se han realizado tanto en la estructura de directorios como en el contenido de los archivos</a:t>
            </a:r>
            <a:r>
              <a:rPr lang="es-ES" sz="2000" dirty="0"/>
              <a:t>. Puede ser muy útil para recuperar carpetas, archivos o algún proyecto en un momento dado del desarrollo. Es necesario saber qué cambios se hacen, quién los hace y cuándo se realizan.</a:t>
            </a:r>
          </a:p>
          <a:p>
            <a:pPr marL="0" indent="0">
              <a:buNone/>
            </a:pPr>
            <a:endParaRPr lang="es-ES" sz="2000" dirty="0"/>
          </a:p>
          <a:p>
            <a:pPr marL="1081088">
              <a:buNone/>
            </a:pPr>
            <a:r>
              <a:rPr lang="es-ES" sz="2000" b="1" dirty="0">
                <a:solidFill>
                  <a:schemeClr val="accent1"/>
                </a:solidFill>
              </a:rPr>
              <a:t>TERMINOLOGÍA</a:t>
            </a:r>
            <a:r>
              <a:rPr lang="es-ES" sz="2000" dirty="0"/>
              <a:t> </a:t>
            </a:r>
          </a:p>
          <a:p>
            <a:pPr marL="1081088">
              <a:buNone/>
            </a:pPr>
            <a:r>
              <a:rPr lang="es-ES" sz="2000" dirty="0"/>
              <a:t>Veamos algunos términos útiles en relación al manejo del control de versiones: </a:t>
            </a:r>
          </a:p>
          <a:p>
            <a:pPr marL="1081088"/>
            <a:r>
              <a:rPr lang="es-ES" sz="2000" b="1" dirty="0"/>
              <a:t>Repositorio</a:t>
            </a:r>
            <a:r>
              <a:rPr lang="es-ES" sz="2000" dirty="0"/>
              <a:t>. Lugar donde se almacenan los datos y los cambios realizados.</a:t>
            </a:r>
          </a:p>
          <a:p>
            <a:pPr marL="1081088"/>
            <a:r>
              <a:rPr lang="es-ES" sz="2000" b="1" dirty="0"/>
              <a:t>Revisión o versión. </a:t>
            </a:r>
            <a:r>
              <a:rPr lang="es-ES" sz="2000" dirty="0"/>
              <a:t>Una revisión es una versión concreta de los datos almacenados</a:t>
            </a:r>
            <a:r>
              <a:rPr lang="es-ES" sz="2000" u="sng" dirty="0"/>
              <a:t>. La última versión</a:t>
            </a:r>
            <a:r>
              <a:rPr lang="es-ES" sz="2000" dirty="0"/>
              <a:t> se identifica como la cabeza o </a:t>
            </a:r>
            <a:r>
              <a:rPr lang="es-ES" sz="2000" b="1" dirty="0"/>
              <a:t>HEAD.</a:t>
            </a:r>
            <a:r>
              <a:rPr lang="es-ES" sz="2000" dirty="0"/>
              <a:t> </a:t>
            </a:r>
          </a:p>
          <a:p>
            <a:pPr marL="1081088"/>
            <a:r>
              <a:rPr lang="es-ES" sz="2000" b="1" dirty="0"/>
              <a:t>Etiquetar o Rotular (tag). </a:t>
            </a:r>
            <a:r>
              <a:rPr lang="es-ES" sz="2000" dirty="0"/>
              <a:t>Las etiquetas se crean para localizar o recuperar en cualquier momento una versión concreta del desarrollo. </a:t>
            </a:r>
          </a:p>
          <a:p>
            <a:pPr marL="0" indent="0" algn="just">
              <a:buNone/>
            </a:pP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1990138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23AE8-84BF-4306-9CEC-85AD3B99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b="1" dirty="0">
                <a:latin typeface="Georgia" panose="02040502050405020303" pitchFamily="18" charset="0"/>
              </a:rPr>
              <a:t>2. Control de Versiones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8E819C7-832B-4241-A239-E50978418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4423" y="1559713"/>
            <a:ext cx="9486632" cy="4667250"/>
          </a:xfrm>
        </p:spPr>
        <p:txBody>
          <a:bodyPr>
            <a:normAutofit fontScale="92500" lnSpcReduction="10000"/>
          </a:bodyPr>
          <a:lstStyle/>
          <a:p>
            <a:endParaRPr lang="es-ES" sz="1800" dirty="0"/>
          </a:p>
          <a:p>
            <a:pPr marL="0" indent="0">
              <a:buNone/>
            </a:pPr>
            <a:r>
              <a:rPr lang="es-ES" sz="1800" b="1" dirty="0"/>
              <a:t>Tronco (</a:t>
            </a:r>
            <a:r>
              <a:rPr lang="es-ES" sz="1800" b="1" dirty="0" err="1"/>
              <a:t>trunk</a:t>
            </a:r>
            <a:r>
              <a:rPr lang="es-ES" sz="1800" b="1" dirty="0"/>
              <a:t>). </a:t>
            </a:r>
            <a:r>
              <a:rPr lang="es-ES" sz="1800" dirty="0"/>
              <a:t>Línea principal del desarrollo del proyecto. </a:t>
            </a:r>
          </a:p>
          <a:p>
            <a:endParaRPr lang="es-ES" sz="1800" dirty="0"/>
          </a:p>
          <a:p>
            <a:pPr marL="0" indent="0">
              <a:buNone/>
            </a:pPr>
            <a:r>
              <a:rPr lang="es-ES" sz="1800" b="1" dirty="0"/>
              <a:t>Rama o ramificar (</a:t>
            </a:r>
            <a:r>
              <a:rPr lang="es-ES" sz="1800" b="1" dirty="0" err="1"/>
              <a:t>branch</a:t>
            </a:r>
            <a:r>
              <a:rPr lang="es-ES" sz="1800" b="1" dirty="0"/>
              <a:t>). </a:t>
            </a:r>
            <a:r>
              <a:rPr lang="es-ES" sz="1800" dirty="0"/>
              <a:t>Copias de carpetas, archivos o proyectos. Se pueden crear ramas para la creación de nuevas funcionalidades o comprobación de errores. </a:t>
            </a:r>
          </a:p>
          <a:p>
            <a:endParaRPr lang="es-ES" sz="1800" dirty="0"/>
          </a:p>
          <a:p>
            <a:pPr marL="0" indent="0">
              <a:buNone/>
            </a:pPr>
            <a:r>
              <a:rPr lang="es-ES" sz="1800" b="1" dirty="0"/>
              <a:t>Desplegar (</a:t>
            </a:r>
            <a:r>
              <a:rPr lang="es-ES" sz="1800" b="1" dirty="0" err="1"/>
              <a:t>Checkout</a:t>
            </a:r>
            <a:r>
              <a:rPr lang="es-ES" sz="1800" b="1" dirty="0"/>
              <a:t>). </a:t>
            </a:r>
            <a:r>
              <a:rPr lang="es-ES" sz="1800" dirty="0"/>
              <a:t>Copia del proyecto, archivos y carpetas en el repositorio del equipo local. </a:t>
            </a:r>
          </a:p>
          <a:p>
            <a:endParaRPr lang="es-ES" sz="1800" dirty="0"/>
          </a:p>
          <a:p>
            <a:pPr marL="0" indent="0">
              <a:buNone/>
            </a:pPr>
            <a:r>
              <a:rPr lang="es-ES" sz="1800" b="1" dirty="0"/>
              <a:t>Confirmar (</a:t>
            </a:r>
            <a:r>
              <a:rPr lang="es-ES" sz="1800" b="1" dirty="0" err="1"/>
              <a:t>commit</a:t>
            </a:r>
            <a:r>
              <a:rPr lang="es-ES" sz="1800" b="1" dirty="0"/>
              <a:t> o </a:t>
            </a:r>
            <a:r>
              <a:rPr lang="es-ES" sz="1800" b="1" dirty="0" err="1"/>
              <a:t>check</a:t>
            </a:r>
            <a:r>
              <a:rPr lang="es-ES" sz="1800" b="1" dirty="0"/>
              <a:t>-in). </a:t>
            </a:r>
            <a:r>
              <a:rPr lang="es-ES" sz="1800" dirty="0"/>
              <a:t>Se realiza cuando se confirman los cambios realizados en el local para integrarlos al repositorio. </a:t>
            </a:r>
          </a:p>
          <a:p>
            <a:endParaRPr lang="es-ES" sz="1800" dirty="0"/>
          </a:p>
          <a:p>
            <a:pPr marL="0" indent="0">
              <a:buNone/>
            </a:pPr>
            <a:r>
              <a:rPr lang="es-ES" sz="1800" b="1" dirty="0"/>
              <a:t>Exportación (</a:t>
            </a:r>
            <a:r>
              <a:rPr lang="es-ES" sz="1800" b="1" dirty="0" err="1"/>
              <a:t>export</a:t>
            </a:r>
            <a:r>
              <a:rPr lang="es-ES" sz="1800" b="1" dirty="0"/>
              <a:t>). </a:t>
            </a:r>
            <a:r>
              <a:rPr lang="es-ES" sz="1800" dirty="0"/>
              <a:t>Es similar al </a:t>
            </a:r>
            <a:r>
              <a:rPr lang="es-ES" sz="1800" i="1" dirty="0" err="1"/>
              <a:t>Checkout</a:t>
            </a:r>
            <a:r>
              <a:rPr lang="es-ES" sz="1800" i="1" dirty="0"/>
              <a:t>, </a:t>
            </a:r>
            <a:r>
              <a:rPr lang="es-ES" sz="1800" dirty="0"/>
              <a:t>pero no se vincula la copia con el repositorio. </a:t>
            </a:r>
          </a:p>
          <a:p>
            <a:pPr marL="0" indent="0">
              <a:buNone/>
            </a:pP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1594939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23AE8-84BF-4306-9CEC-85AD3B99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b="1" dirty="0">
                <a:latin typeface="Georgia" panose="02040502050405020303" pitchFamily="18" charset="0"/>
              </a:rPr>
              <a:t>2. Control de Versiones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9D23888-45E7-4847-AB2C-844E0292731C}"/>
              </a:ext>
            </a:extLst>
          </p:cNvPr>
          <p:cNvSpPr/>
          <p:nvPr/>
        </p:nvSpPr>
        <p:spPr>
          <a:xfrm>
            <a:off x="1717963" y="1264555"/>
            <a:ext cx="1000298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Importación (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import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).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Subida de carpetas y archivos al repositorio. 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Actualizar (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update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).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Se realiza cuando se desea integrar los cambios realizados en el repositorio de la copia del trabajo local. 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Fusión (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merge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).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Se unen cambios realizados sobre uno o varios archivos en una única revisión. Se suele realizar cuando existen varias ramas y es necesario unir los cambios realizados. 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Conflicto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Suele ocurrir cuando un usuario hace un </a:t>
            </a:r>
            <a:r>
              <a:rPr kumimoji="0" lang="es-E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Checkout</a:t>
            </a:r>
            <a:r>
              <a:rPr kumimoji="0" lang="es-E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de un archivo y otro usuario no actualiza y realiza cambios sobre el mismo archivo. Cuando envía los cambios realizados existe un conflicto entre ambos archivos, por lo que se deberán realizar los cambios o elegir uno de ellos. 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Resolver conflicto.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Actuación del usuario para atender varios conflictos. 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Para trabajar con el control de versiones habrá que crear primero una copia local con </a:t>
            </a:r>
            <a:r>
              <a:rPr kumimoji="0" lang="es-E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Checkout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realizar las modificaciones y, por último, subir las modificaciones con </a:t>
            </a:r>
            <a:r>
              <a:rPr kumimoji="0" lang="es-E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commit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Si ya está vinculada la copia habrá que hacer </a:t>
            </a:r>
            <a:r>
              <a:rPr kumimoji="0" lang="es-E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Update</a:t>
            </a:r>
            <a:r>
              <a:rPr kumimoji="0" lang="es-E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para que se haga sobre la última versión. </a:t>
            </a:r>
          </a:p>
        </p:txBody>
      </p:sp>
    </p:spTree>
    <p:extLst>
      <p:ext uri="{BB962C8B-B14F-4D97-AF65-F5344CB8AC3E}">
        <p14:creationId xmlns:p14="http://schemas.microsoft.com/office/powerpoint/2010/main" val="1589113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23AE8-84BF-4306-9CEC-85AD3B99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b="1" dirty="0">
                <a:latin typeface="Georgia" panose="02040502050405020303" pitchFamily="18" charset="0"/>
              </a:rPr>
              <a:t>2. Control de Versiones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88508A1-B88E-4EF1-8FF4-DF4BCFA13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805" y="1685221"/>
            <a:ext cx="4253346" cy="5016758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Sistemas de control de versiones centralizados (</a:t>
            </a:r>
            <a:r>
              <a:rPr kumimoji="0" lang="es-ES" altLang="es-E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Centralized</a:t>
            </a: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s-ES" altLang="es-E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Version</a:t>
            </a: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Control </a:t>
            </a:r>
            <a:r>
              <a:rPr kumimoji="0" lang="es-ES" altLang="es-E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Systems</a:t>
            </a: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o </a:t>
            </a:r>
            <a:r>
              <a:rPr kumimoji="0" lang="es-ES" altLang="es-E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CVCSs</a:t>
            </a: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en inglés).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2000" b="0" i="0" u="none" strike="noStrike" kern="1200" cap="none" spc="0" normalizeH="0" baseline="0" noProof="0" dirty="0">
              <a:ln>
                <a:noFill/>
              </a:ln>
              <a:solidFill>
                <a:srgbClr val="4E443C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Estos sistemas, como CVS, </a:t>
            </a:r>
            <a:r>
              <a:rPr kumimoji="0" lang="es-ES" altLang="es-E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Subversion</a:t>
            </a:r>
            <a:r>
              <a:rPr kumimoji="0" lang="es-ES" alt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y </a:t>
            </a:r>
            <a:r>
              <a:rPr kumimoji="0" lang="es-ES" alt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Perforce</a:t>
            </a:r>
            <a:r>
              <a:rPr kumimoji="0" lang="es-ES" alt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tienen un único servidor que contiene todos los archivos versionados, y varios clientes que descargan los archivos desde ese lugar central. Durante muchos años éste ha sido el estándar para el control de versiones.</a:t>
            </a:r>
            <a:endParaRPr kumimoji="0" lang="es-ES" alt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26" name="Picture 2" descr="https://git-scm.com/figures/18333fig0102-tn.png">
            <a:extLst>
              <a:ext uri="{FF2B5EF4-FFF2-40B4-BE49-F238E27FC236}">
                <a16:creationId xmlns:a16="http://schemas.microsoft.com/office/drawing/2014/main" id="{983E106D-F904-4EEC-8682-0E35C5CF0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325" y="1892301"/>
            <a:ext cx="4762500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236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23AE8-84BF-4306-9CEC-85AD3B99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b="1" dirty="0">
                <a:latin typeface="Georgia" panose="02040502050405020303" pitchFamily="18" charset="0"/>
              </a:rPr>
              <a:t>2. Control de Versiones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88508A1-B88E-4EF1-8FF4-DF4BCFA13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7703" y="1363706"/>
            <a:ext cx="5056909" cy="5078313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Sistemas de control de versiones distribuidos (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Distributed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Version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Control 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Systems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o 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DVCSs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en inglés). </a:t>
            </a:r>
          </a:p>
          <a:p>
            <a:pPr marL="0" marR="0" lvl="0" indent="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En un DVCS (como 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Git,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Mercurial,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Bazaar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o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Darcs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), los clientes no sólo descargan la última instantánea de los archivos: replican completamente el repositorio. </a:t>
            </a:r>
          </a:p>
          <a:p>
            <a:pPr marL="0" marR="0" lvl="0" indent="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Así, si un servidor muere, y estos sistemas estaban colaborando a través de él, cualquiera de los repositorios de los clientes puede copiarse en el servidor para restaurarlo. </a:t>
            </a:r>
          </a:p>
          <a:p>
            <a:pPr marL="0" marR="0" lvl="0" indent="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just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Cada vez que se descarga una instantánea, en realidad se hace una copia de seguridad completa de todos los datos.</a:t>
            </a:r>
            <a:endParaRPr kumimoji="0" lang="es-ES" altLang="es-E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050" name="Picture 2" descr="https://git-scm.com/figures/18333fig0103-tn.png">
            <a:extLst>
              <a:ext uri="{FF2B5EF4-FFF2-40B4-BE49-F238E27FC236}">
                <a16:creationId xmlns:a16="http://schemas.microsoft.com/office/drawing/2014/main" id="{B5DE807D-1034-4606-8307-4C0EE1B79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792" y="1872168"/>
            <a:ext cx="3852373" cy="4337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269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823AE8-84BF-4306-9CEC-85AD3B99E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0"/>
            <a:ext cx="10515600" cy="1325563"/>
          </a:xfrm>
        </p:spPr>
        <p:txBody>
          <a:bodyPr>
            <a:normAutofit/>
          </a:bodyPr>
          <a:lstStyle/>
          <a:p>
            <a:r>
              <a:rPr lang="es-ES" sz="4000" b="1" dirty="0">
                <a:latin typeface="Georgia" panose="02040502050405020303" pitchFamily="18" charset="0"/>
              </a:rPr>
              <a:t>2. Control de Versiones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3F469D0-33D7-4FAD-9D9B-79C6E831B9CB}"/>
              </a:ext>
            </a:extLst>
          </p:cNvPr>
          <p:cNvSpPr/>
          <p:nvPr/>
        </p:nvSpPr>
        <p:spPr>
          <a:xfrm>
            <a:off x="1884218" y="662781"/>
            <a:ext cx="9774383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Exo"/>
                <a:ea typeface="+mn-ea"/>
                <a:cs typeface="+mn-cs"/>
              </a:rPr>
              <a:t>Diferencias entre 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Exo"/>
                <a:ea typeface="+mn-ea"/>
                <a:cs typeface="+mn-cs"/>
              </a:rPr>
              <a:t>Subversion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Exo"/>
                <a:ea typeface="+mn-ea"/>
                <a:cs typeface="+mn-cs"/>
              </a:rPr>
              <a:t> y Git 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Exo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 Imaginémonos que somos un desarrollador que está fuera de la oficina y no tenemos conexión a Internet: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Didact Gothic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Con 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Subversion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, no podremos conectarnos al 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repositorio central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 y, por lo tanto no podremos realizar 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confirmaciones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 (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commit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) ni tener un control local de versiones del código fuente.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Didact Gothic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Con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 Git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, nuestra copia local es un 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repositorio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 y podemos hacer 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confirmaciones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 (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commit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) sobre éste y tener todas las ventajas del control de código fuente. Cuando volvamos a tener conexión con el repositorio central, podremos realizar confirmaciones sobre él.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Didact Gothic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Mientras que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 SVN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 tiene la ventaja de que es más 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sencillo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 de aprender, 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Git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 se adapta mejor para desarrolladores que no están conectados continuamente al 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repositorio central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.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Didact Gothic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Además,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 Git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 es más 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rápido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 en ejecución que SVN y características avanzadas, como la creación de ramas de trabajo (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branching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) y la combinación de ramas (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merging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) están mejor definidas.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Didact Gothic"/>
              <a:ea typeface="+mn-ea"/>
              <a:cs typeface="+mn-cs"/>
            </a:endParaRP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Esto explica que en 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proyectos Open 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Source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 se utiliza principalmente Git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Didact Gothic"/>
                <a:ea typeface="+mn-ea"/>
                <a:cs typeface="+mn-cs"/>
              </a:rPr>
              <a:t>. Creamos una rama del proyecto principal, hacemos nuestros cambios sobre esa rama sin afectar a la versión en producción y generamos una petición al responsable del proyecto para que revise las modificaciones y las integre en producción.</a:t>
            </a:r>
          </a:p>
        </p:txBody>
      </p:sp>
    </p:spTree>
    <p:extLst>
      <p:ext uri="{BB962C8B-B14F-4D97-AF65-F5344CB8AC3E}">
        <p14:creationId xmlns:p14="http://schemas.microsoft.com/office/powerpoint/2010/main" val="914335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it VERSUS Subversion">
            <a:extLst>
              <a:ext uri="{FF2B5EF4-FFF2-40B4-BE49-F238E27FC236}">
                <a16:creationId xmlns:a16="http://schemas.microsoft.com/office/drawing/2014/main" id="{1D760C47-5039-D613-AFB0-2D10128A3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388" y="255010"/>
            <a:ext cx="7191375" cy="660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8336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E4B1C3F9-1774-451C-AF2B-AF0BDDDF0FE2}"/>
              </a:ext>
            </a:extLst>
          </p:cNvPr>
          <p:cNvSpPr txBox="1"/>
          <p:nvPr/>
        </p:nvSpPr>
        <p:spPr>
          <a:xfrm>
            <a:off x="1440874" y="6147680"/>
            <a:ext cx="10210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Diferentes ubicaciones por las que puede pasar un archivo gestionado con Git hasta que llega al repositorio remoto y los comandos que permiten el paso de una ubicación a otra.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91DBE7-2ADB-AE7E-76F9-BA465B73C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959" y="3598516"/>
            <a:ext cx="6392043" cy="2471744"/>
          </a:xfrm>
          <a:prstGeom prst="rect">
            <a:avLst/>
          </a:prstGeom>
        </p:spPr>
      </p:pic>
      <p:sp>
        <p:nvSpPr>
          <p:cNvPr id="4" name="3 CuadroTexto"/>
          <p:cNvSpPr txBox="1"/>
          <p:nvPr/>
        </p:nvSpPr>
        <p:spPr>
          <a:xfrm>
            <a:off x="1888453" y="397165"/>
            <a:ext cx="78702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00" b="1" i="1" u="none" strike="noStrike" kern="1200" cap="none" spc="0" normalizeH="0" baseline="0" noProof="0" dirty="0" err="1">
                <a:ln>
                  <a:noFill/>
                </a:ln>
                <a:solidFill>
                  <a:srgbClr val="DE7E18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Git</a:t>
            </a:r>
            <a:endParaRPr kumimoji="0" lang="es-ES" sz="2100" b="0" i="0" u="none" strike="noStrike" kern="1200" cap="none" spc="0" normalizeH="0" baseline="0" noProof="0" dirty="0">
              <a:ln>
                <a:noFill/>
              </a:ln>
              <a:solidFill>
                <a:srgbClr val="DE7E18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D82ED9-ECFC-A8A0-29D2-D038D06A7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1" y="812663"/>
            <a:ext cx="11430000" cy="27084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B40B5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Áreas de Git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1600" b="1" i="0" u="none" strike="noStrike" kern="1200" cap="none" spc="0" normalizeH="0" baseline="0" noProof="0" dirty="0">
              <a:ln>
                <a:noFill/>
              </a:ln>
              <a:solidFill>
                <a:srgbClr val="B40B51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3C8DB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Área de trabajo</a:t>
            </a:r>
            <a:r>
              <a:rPr kumimoji="0" lang="es-ES" alt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es el directorio de nuestro proyecto con el estado actual de los ficheros que podemos visualizar desde el explorador de archivos. Se inicializa con el comando </a:t>
            </a:r>
            <a:r>
              <a:rPr kumimoji="0" lang="es-ES" altLang="es-E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C8DB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hlinkClick r:id="rId3"/>
              </a:rPr>
              <a:t>init</a:t>
            </a:r>
            <a:r>
              <a:rPr kumimoji="0" lang="es-ES" alt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  <a:endParaRPr kumimoji="0" lang="es-ES" altLang="es-E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3C8DB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Área de preparación</a:t>
            </a:r>
            <a:r>
              <a:rPr kumimoji="0" lang="es-ES" alt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donde añadir los archivos que van a conformar un </a:t>
            </a:r>
            <a:r>
              <a:rPr kumimoji="0" lang="es-ES" altLang="es-E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commit</a:t>
            </a:r>
            <a:r>
              <a:rPr kumimoji="0" lang="es-ES" alt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Pueden ser ficheros completos o sólo partes concretas. Los archivos se añaden con el comando </a:t>
            </a:r>
            <a:r>
              <a:rPr kumimoji="0" lang="es-ES" altLang="es-E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C8DB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hlinkClick r:id="rId4"/>
              </a:rPr>
              <a:t>add</a:t>
            </a:r>
            <a:r>
              <a:rPr kumimoji="0" lang="es-ES" alt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  <a:endParaRPr kumimoji="0" lang="es-ES" altLang="es-E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3C8DB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Repositorio local</a:t>
            </a:r>
            <a:r>
              <a:rPr kumimoji="0" lang="es-ES" alt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donde guardar cada </a:t>
            </a:r>
            <a:r>
              <a:rPr kumimoji="0" lang="es-ES" altLang="es-E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C8DB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hlinkClick r:id="rId5"/>
              </a:rPr>
              <a:t>commit</a:t>
            </a:r>
            <a:r>
              <a:rPr kumimoji="0" lang="es-ES" alt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 a partir de los archivos añadidos al área de preparación. La información se guarda por defecto en el directorio .</a:t>
            </a:r>
            <a:r>
              <a:rPr kumimoji="0" lang="es-ES" altLang="es-E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git</a:t>
            </a:r>
            <a:r>
              <a:rPr kumimoji="0" lang="es-ES" alt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 del área de trabajo.</a:t>
            </a:r>
            <a:endParaRPr kumimoji="0" lang="es-ES" altLang="es-E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3C8DB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Repositorio remoto</a:t>
            </a:r>
            <a:r>
              <a:rPr kumimoji="0" lang="es-ES" alt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puede ser uno (por defecto se llama </a:t>
            </a:r>
            <a:r>
              <a:rPr kumimoji="0" lang="es-ES" altLang="es-E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origin</a:t>
            </a:r>
            <a:r>
              <a:rPr kumimoji="0" lang="es-ES" alt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), o puede haber varios. Entre el repositorio local y los remotos se puede usar el comando </a:t>
            </a:r>
            <a:r>
              <a:rPr kumimoji="0" lang="es-ES" altLang="es-E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C8DB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hlinkClick r:id="rId6"/>
              </a:rPr>
              <a:t>push</a:t>
            </a:r>
            <a:r>
              <a:rPr kumimoji="0" lang="es-ES" alt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 para enviar los cambios realizados localmente, o </a:t>
            </a:r>
            <a:r>
              <a:rPr kumimoji="0" lang="es-ES" altLang="es-E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3C8DB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hlinkClick r:id="rId7"/>
              </a:rPr>
              <a:t>pull</a:t>
            </a:r>
            <a:r>
              <a:rPr kumimoji="0" lang="es-ES" alt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 para descargar los últimos cambios disponibles.</a:t>
            </a:r>
            <a:endParaRPr kumimoji="0" lang="es-ES" altLang="es-E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894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EAB99A9-18E0-CDAB-0090-CBE8E0051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018" y="1600735"/>
            <a:ext cx="10002981" cy="3693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Sólo hay que </a:t>
            </a:r>
            <a:r>
              <a:rPr kumimoji="0" lang="es-ES" alt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3C8DB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hlinkClick r:id="rId2"/>
              </a:rPr>
              <a:t>descargar e instalar Git</a:t>
            </a:r>
            <a:r>
              <a:rPr kumimoji="0" lang="es-ES" alt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2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s-ES" alt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Se proporcionan tres formas de usar Git: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3C8DB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Git CMD</a:t>
            </a:r>
            <a:r>
              <a:rPr kumimoji="0" lang="es-ES" alt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 para usar Git desde línea de comandos como en el </a:t>
            </a:r>
            <a:r>
              <a:rPr kumimoji="0" lang="es-ES" altLang="es-ES" sz="2000" b="0" i="1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Símbolo del sistema</a:t>
            </a:r>
            <a:r>
              <a:rPr kumimoji="0" lang="es-ES" alt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 de Windows. Útil si sólo se trabaja en Windows.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s-ES" altLang="es-ES" sz="2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3C8DB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Git </a:t>
            </a:r>
            <a:r>
              <a:rPr kumimoji="0" lang="es-ES" altLang="es-E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3C8DB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Bash</a:t>
            </a:r>
            <a:r>
              <a:rPr kumimoji="0" lang="es-ES" alt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 emula un entorno </a:t>
            </a:r>
            <a:r>
              <a:rPr kumimoji="0" lang="es-ES" alt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bash</a:t>
            </a:r>
            <a:r>
              <a:rPr kumimoji="0" lang="es-ES" alt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 sobre Windows para usar Git y muchos de los comandos estándar de Unix. Útil para los habituados a Linux.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2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s-ES" altLang="es-ES" sz="2000" b="1" i="0" u="none" strike="noStrike" kern="1200" cap="none" spc="0" normalizeH="0" baseline="0" noProof="0" dirty="0">
                <a:ln>
                  <a:noFill/>
                </a:ln>
                <a:solidFill>
                  <a:srgbClr val="3C8DB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Git GUI</a:t>
            </a:r>
            <a:r>
              <a:rPr kumimoji="0" lang="es-ES" alt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 proporciona una interfaz gráfica básica para usar Git sin escribir comandos, aunque hay </a:t>
            </a:r>
            <a:r>
              <a:rPr kumimoji="0" lang="es-ES" alt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3C8DB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  <a:hlinkClick r:id="rId3"/>
              </a:rPr>
              <a:t>otras alternativas</a:t>
            </a:r>
            <a:r>
              <a:rPr kumimoji="0" lang="es-ES" alt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 donde elegir.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es-E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4EC8EB4-C0A9-E5C0-CFE2-675DFDB0A339}"/>
              </a:ext>
            </a:extLst>
          </p:cNvPr>
          <p:cNvSpPr txBox="1"/>
          <p:nvPr/>
        </p:nvSpPr>
        <p:spPr>
          <a:xfrm>
            <a:off x="1427018" y="7395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B40B5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INSTALACIÓN Y USO DE GIT (ver apuntes aparte)</a:t>
            </a:r>
          </a:p>
        </p:txBody>
      </p:sp>
    </p:spTree>
    <p:extLst>
      <p:ext uri="{BB962C8B-B14F-4D97-AF65-F5344CB8AC3E}">
        <p14:creationId xmlns:p14="http://schemas.microsoft.com/office/powerpoint/2010/main" val="3523861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EAB99A9-18E0-CDAB-0090-CBE8E0051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273" y="2009960"/>
            <a:ext cx="7481454" cy="2154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Eclipse trae de serie una componente denominada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Egit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que proporciona una interfaz bastante completa de las operaciones con Git.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4E443C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Para acceder a ella, hay que ir a la perspectiva Git (en el menú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Window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&gt; Open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Perspective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&gt;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Other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srgbClr val="4E443C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…, y entonces seleccionar "Git").</a:t>
            </a:r>
            <a:endParaRPr kumimoji="0" lang="es-ES" altLang="es-ES" sz="2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4EC8EB4-C0A9-E5C0-CFE2-675DFDB0A339}"/>
              </a:ext>
            </a:extLst>
          </p:cNvPr>
          <p:cNvSpPr txBox="1"/>
          <p:nvPr/>
        </p:nvSpPr>
        <p:spPr>
          <a:xfrm>
            <a:off x="1427018" y="7395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srgbClr val="B40B51"/>
                </a:solidFill>
                <a:effectLst/>
                <a:uLnTx/>
                <a:uFillTx/>
                <a:latin typeface="lato" panose="020F0502020204030203" pitchFamily="34" charset="0"/>
                <a:ea typeface="+mn-ea"/>
                <a:cs typeface="+mn-cs"/>
              </a:rPr>
              <a:t>INTEGRACIÓN DE GIT EN ECLIPSE</a:t>
            </a:r>
          </a:p>
        </p:txBody>
      </p:sp>
    </p:spTree>
    <p:extLst>
      <p:ext uri="{BB962C8B-B14F-4D97-AF65-F5344CB8AC3E}">
        <p14:creationId xmlns:p14="http://schemas.microsoft.com/office/powerpoint/2010/main" val="222579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E4B1C3F9-1774-451C-AF2B-AF0BDDDF0FE2}"/>
              </a:ext>
            </a:extLst>
          </p:cNvPr>
          <p:cNvSpPr txBox="1"/>
          <p:nvPr/>
        </p:nvSpPr>
        <p:spPr>
          <a:xfrm>
            <a:off x="7988282" y="3834707"/>
            <a:ext cx="39901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Ventana en la que se selecciona la ruta del repositorio </a:t>
            </a:r>
            <a:b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 se le asigna un nombre. Asimismo, se crea la rama principal o tronco </a:t>
            </a:r>
            <a:b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del repositorio, a la que Git llama por defecto con el nombre de </a:t>
            </a:r>
            <a:r>
              <a:rPr kumimoji="0" lang="es-E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master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1597508" y="86503"/>
            <a:ext cx="78702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00" b="1" i="0" u="none" strike="noStrike" kern="1200" cap="none" spc="0" normalizeH="0" baseline="0" noProof="0" dirty="0">
                <a:ln>
                  <a:noFill/>
                </a:ln>
                <a:solidFill>
                  <a:srgbClr val="DE7E18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Creación de un repositorio local</a:t>
            </a:r>
            <a:endParaRPr kumimoji="0" lang="es-ES" sz="2100" b="0" i="0" u="none" strike="noStrike" kern="1200" cap="none" spc="0" normalizeH="0" baseline="0" noProof="0" dirty="0">
              <a:ln>
                <a:noFill/>
              </a:ln>
              <a:solidFill>
                <a:srgbClr val="DE7E18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1 CuadroTexto"/>
          <p:cNvSpPr txBox="1"/>
          <p:nvPr/>
        </p:nvSpPr>
        <p:spPr>
          <a:xfrm>
            <a:off x="1722200" y="443590"/>
            <a:ext cx="8261137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En Eclipse se abre la vista </a:t>
            </a:r>
            <a:r>
              <a:rPr kumimoji="0" lang="es-E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Git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mediante la opción de menú </a:t>
            </a:r>
            <a:r>
              <a:rPr kumimoji="0" lang="es-E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Window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→ </a:t>
            </a:r>
            <a:r>
              <a:rPr kumimoji="0" lang="es-E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Perspective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→ Open </a:t>
            </a:r>
            <a:r>
              <a:rPr kumimoji="0" lang="es-E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Perspective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→ </a:t>
            </a:r>
            <a:r>
              <a:rPr kumimoji="0" lang="es-E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Other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→ </a:t>
            </a:r>
            <a:r>
              <a:rPr kumimoji="0" lang="es-E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Git</a:t>
            </a:r>
            <a:endParaRPr kumimoji="0" lang="es-E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314080E-1337-DCF8-6A5C-A4491252DED2}"/>
              </a:ext>
            </a:extLst>
          </p:cNvPr>
          <p:cNvSpPr txBox="1"/>
          <p:nvPr/>
        </p:nvSpPr>
        <p:spPr>
          <a:xfrm>
            <a:off x="1601746" y="1323897"/>
            <a:ext cx="3930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File-New-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Other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-Git-Git </a:t>
            </a:r>
            <a:r>
              <a:rPr kumimoji="0" lang="es-E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Repository</a:t>
            </a:r>
            <a:endParaRPr kumimoji="0" lang="es-E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6C943D9-261F-0455-1C08-8394AD820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018" y="1973372"/>
            <a:ext cx="482917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67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E4B1C3F9-1774-451C-AF2B-AF0BDDDF0FE2}"/>
              </a:ext>
            </a:extLst>
          </p:cNvPr>
          <p:cNvSpPr txBox="1"/>
          <p:nvPr/>
        </p:nvSpPr>
        <p:spPr>
          <a:xfrm>
            <a:off x="1722426" y="5307910"/>
            <a:ext cx="9692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Figura 4.20.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Estructura del repositorio que se acaba de crear </a:t>
            </a:r>
            <a:b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 que se muestra en la parte izquierda de la pantalla.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5BE7D3E-0080-6D59-E63E-42E5EAED5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201" y="363432"/>
            <a:ext cx="8548842" cy="479648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5532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CuadroTexto">
            <a:extLst>
              <a:ext uri="{FF2B5EF4-FFF2-40B4-BE49-F238E27FC236}">
                <a16:creationId xmlns:a16="http://schemas.microsoft.com/office/drawing/2014/main" id="{F7C7906F-DA27-AEAF-B6C5-4F8836B0BBCD}"/>
              </a:ext>
            </a:extLst>
          </p:cNvPr>
          <p:cNvSpPr txBox="1"/>
          <p:nvPr/>
        </p:nvSpPr>
        <p:spPr>
          <a:xfrm>
            <a:off x="2159756" y="586919"/>
            <a:ext cx="9015072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Tras crear el proyecto en Eclipse 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File-New-</a:t>
            </a:r>
            <a:r>
              <a:rPr kumimoji="0" lang="es-E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JavaProyect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se asocia al repositorio local eligiendo en el menú contextual la opción </a:t>
            </a:r>
            <a:r>
              <a:rPr kumimoji="0" lang="es-ES" sz="20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Team</a:t>
            </a:r>
            <a:r>
              <a:rPr kumimoji="0" lang="es-E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/Share Project…</a:t>
            </a:r>
          </a:p>
        </p:txBody>
      </p:sp>
      <p:sp>
        <p:nvSpPr>
          <p:cNvPr id="3" name="4 CuadroTexto">
            <a:extLst>
              <a:ext uri="{FF2B5EF4-FFF2-40B4-BE49-F238E27FC236}">
                <a16:creationId xmlns:a16="http://schemas.microsoft.com/office/drawing/2014/main" id="{123A0009-FBDC-415F-DA3D-345E9DDAC64C}"/>
              </a:ext>
            </a:extLst>
          </p:cNvPr>
          <p:cNvSpPr txBox="1"/>
          <p:nvPr/>
        </p:nvSpPr>
        <p:spPr>
          <a:xfrm>
            <a:off x="1858939" y="171421"/>
            <a:ext cx="78702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00" b="1" i="0" u="none" strike="noStrike" kern="1200" cap="none" spc="0" normalizeH="0" baseline="0" noProof="0" dirty="0">
                <a:ln>
                  <a:noFill/>
                </a:ln>
                <a:solidFill>
                  <a:srgbClr val="DE7E18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Creación de un proyecto en Java</a:t>
            </a:r>
            <a:endParaRPr kumimoji="0" lang="es-ES" sz="2100" b="0" i="0" u="none" strike="noStrike" kern="1200" cap="none" spc="0" normalizeH="0" baseline="0" noProof="0" dirty="0">
              <a:ln>
                <a:noFill/>
              </a:ln>
              <a:solidFill>
                <a:srgbClr val="DE7E18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168A5D-C13D-1683-C2AC-2C01F8B88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167" y="1626937"/>
            <a:ext cx="3098656" cy="397792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D7C0B2-AD74-0600-3F4D-2AF5EFD458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43" t="70491" r="52500" b="6199"/>
          <a:stretch/>
        </p:blipFill>
        <p:spPr>
          <a:xfrm>
            <a:off x="4977668" y="1626937"/>
            <a:ext cx="4969021" cy="159781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9640D8F-BB17-A5CD-6D69-2CC2FA144A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890" r="31023" b="33123"/>
          <a:stretch/>
        </p:blipFill>
        <p:spPr>
          <a:xfrm>
            <a:off x="4977668" y="3429000"/>
            <a:ext cx="5569527" cy="254161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C6D543D-FE9E-7026-0D22-52E7E294FC2D}"/>
              </a:ext>
            </a:extLst>
          </p:cNvPr>
          <p:cNvSpPr txBox="1"/>
          <p:nvPr/>
        </p:nvSpPr>
        <p:spPr>
          <a:xfrm>
            <a:off x="4977668" y="6119413"/>
            <a:ext cx="65962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 seleccionar el repositorio creado anteriormente,  el proyecto queda asociado a él.</a:t>
            </a:r>
          </a:p>
        </p:txBody>
      </p:sp>
    </p:spTree>
    <p:extLst>
      <p:ext uri="{BB962C8B-B14F-4D97-AF65-F5344CB8AC3E}">
        <p14:creationId xmlns:p14="http://schemas.microsoft.com/office/powerpoint/2010/main" val="238714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4 CuadroTexto">
            <a:extLst>
              <a:ext uri="{FF2B5EF4-FFF2-40B4-BE49-F238E27FC236}">
                <a16:creationId xmlns:a16="http://schemas.microsoft.com/office/drawing/2014/main" id="{123A0009-FBDC-415F-DA3D-345E9DDAC64C}"/>
              </a:ext>
            </a:extLst>
          </p:cNvPr>
          <p:cNvSpPr txBox="1"/>
          <p:nvPr/>
        </p:nvSpPr>
        <p:spPr>
          <a:xfrm>
            <a:off x="265666" y="0"/>
            <a:ext cx="78702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00" b="1" i="0" u="none" strike="noStrike" kern="1200" cap="none" spc="0" normalizeH="0" baseline="0" noProof="0" dirty="0">
                <a:ln>
                  <a:noFill/>
                </a:ln>
                <a:solidFill>
                  <a:srgbClr val="DE7E18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Creación de un proyecto en Java</a:t>
            </a:r>
            <a:endParaRPr kumimoji="0" lang="es-ES" sz="2100" b="0" i="0" u="none" strike="noStrike" kern="1200" cap="none" spc="0" normalizeH="0" baseline="0" noProof="0" dirty="0">
              <a:ln>
                <a:noFill/>
              </a:ln>
              <a:solidFill>
                <a:srgbClr val="DE7E18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D6B146D-1F75-6673-0F0F-BE9829D7D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35" y="651261"/>
            <a:ext cx="3180129" cy="566641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F404691-DE1B-AFAF-05B6-E2089D475DFB}"/>
              </a:ext>
            </a:extLst>
          </p:cNvPr>
          <p:cNvSpPr txBox="1"/>
          <p:nvPr/>
        </p:nvSpPr>
        <p:spPr>
          <a:xfrm>
            <a:off x="4003964" y="775951"/>
            <a:ext cx="27880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Ahora ya podemos ver el proyecto en nuestro repositorio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C4EFFD3-CD1E-9C17-8D4B-C41C3DAB6036}"/>
              </a:ext>
            </a:extLst>
          </p:cNvPr>
          <p:cNvSpPr txBox="1"/>
          <p:nvPr/>
        </p:nvSpPr>
        <p:spPr>
          <a:xfrm>
            <a:off x="6778164" y="4948642"/>
            <a:ext cx="49150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 muestra el proyecto que se acaba de crear en el explorador de paquetes de la vista Java.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 símbolo &gt; antes del nombre del proyecto indica que está bajo el control de versiones de Git.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9822C1B-FDC0-CB6F-DB29-4018AEA30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551" y="510370"/>
            <a:ext cx="233362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79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E4B1C3F9-1774-451C-AF2B-AF0BDDDF0FE2}"/>
              </a:ext>
            </a:extLst>
          </p:cNvPr>
          <p:cNvSpPr txBox="1"/>
          <p:nvPr/>
        </p:nvSpPr>
        <p:spPr>
          <a:xfrm>
            <a:off x="2938208" y="5043290"/>
            <a:ext cx="80288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Contenido de la clase creada para el proyecto de prueba </a:t>
            </a:r>
            <a:r>
              <a:rPr kumimoji="0" lang="es-E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ejemplo1git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con el que se van a controlar las versiones a través de la herramienta Git.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2705873" y="647551"/>
            <a:ext cx="8261137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Se crea dentro del proyecto un paquete y una clase.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F12BB19-33A0-0C61-008D-4D82B88DA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835" y="1571888"/>
            <a:ext cx="10572134" cy="294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3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1874600" y="399682"/>
            <a:ext cx="78702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00" b="1" i="0" u="none" strike="noStrike" kern="1200" cap="none" spc="0" normalizeH="0" baseline="0" noProof="0" dirty="0">
                <a:ln>
                  <a:noFill/>
                </a:ln>
                <a:solidFill>
                  <a:srgbClr val="DE7E18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Validación de cambios en el repositorio local</a:t>
            </a:r>
            <a:endParaRPr kumimoji="0" lang="es-ES" sz="2100" b="0" i="0" u="none" strike="noStrike" kern="1200" cap="none" spc="0" normalizeH="0" baseline="0" noProof="0" dirty="0">
              <a:ln>
                <a:noFill/>
              </a:ln>
              <a:solidFill>
                <a:srgbClr val="DE7E18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9518073" y="1728205"/>
            <a:ext cx="1933846" cy="28623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Se selecciona del menú contextual de cualquier elemento del proyecto la opción de menú </a:t>
            </a:r>
            <a:r>
              <a:rPr kumimoji="0" lang="es-E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Team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→ </a:t>
            </a:r>
            <a:r>
              <a:rPr kumimoji="0" lang="es-E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Commit</a:t>
            </a: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…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3CE58AE-9ABC-19F4-D15E-DB0A2132B7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2665948" y="815180"/>
            <a:ext cx="5411252" cy="608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004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E4B1C3F9-1774-451C-AF2B-AF0BDDDF0FE2}"/>
              </a:ext>
            </a:extLst>
          </p:cNvPr>
          <p:cNvSpPr txBox="1"/>
          <p:nvPr/>
        </p:nvSpPr>
        <p:spPr>
          <a:xfrm>
            <a:off x="528637" y="743669"/>
            <a:ext cx="111347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Pantalla desde la que se pueden seleccionar los cambios que se desean 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confirmar (</a:t>
            </a:r>
            <a:r>
              <a:rPr kumimoji="0" lang="es-ES" sz="1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commit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</a:t>
            </a: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para su paso al área de preparación. Para ello, Eclipse obliga a escribir un mensaje en el cuadro de texto </a:t>
            </a:r>
            <a:r>
              <a:rPr kumimoji="0" lang="es-ES" sz="1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Commit</a:t>
            </a:r>
            <a:r>
              <a:rPr kumimoji="0" lang="es-ES" sz="1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s-ES" sz="14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Message</a:t>
            </a: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(para pasar de </a:t>
            </a:r>
            <a:r>
              <a:rPr kumimoji="0" lang="es-E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unstaged</a:t>
            </a: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 </a:t>
            </a:r>
            <a:r>
              <a:rPr kumimoji="0" lang="es-E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staged</a:t>
            </a:r>
            <a:r>
              <a:rPr kumimoji="0" 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darle al + verde)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1769214" y="126156"/>
            <a:ext cx="787024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00" b="1" i="0" u="none" strike="noStrike" kern="1200" cap="none" spc="0" normalizeH="0" baseline="0" noProof="0" dirty="0">
                <a:ln>
                  <a:noFill/>
                </a:ln>
                <a:solidFill>
                  <a:srgbClr val="DE7E18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Validación de cambios en el repositorio local</a:t>
            </a:r>
            <a:endParaRPr kumimoji="0" lang="es-ES" sz="2100" b="0" i="0" u="none" strike="noStrike" kern="1200" cap="none" spc="0" normalizeH="0" baseline="0" noProof="0" dirty="0">
              <a:ln>
                <a:noFill/>
              </a:ln>
              <a:solidFill>
                <a:srgbClr val="DE7E18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0472C96-5E04-6C43-970B-0F8DF531F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996" y="4673314"/>
            <a:ext cx="9020175" cy="1952625"/>
          </a:xfrm>
          <a:prstGeom prst="rect">
            <a:avLst/>
          </a:prstGeom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6EF3EAA4-6EE1-7CA5-CBD1-ABA312F1919D}"/>
              </a:ext>
            </a:extLst>
          </p:cNvPr>
          <p:cNvGrpSpPr/>
          <p:nvPr/>
        </p:nvGrpSpPr>
        <p:grpSpPr>
          <a:xfrm>
            <a:off x="1050076" y="1482333"/>
            <a:ext cx="10458450" cy="3035680"/>
            <a:chOff x="997527" y="1482333"/>
            <a:chExt cx="10458450" cy="3035680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88CCC75C-DB61-0CF4-0350-DEE32F136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7527" y="1482333"/>
              <a:ext cx="10458450" cy="2876550"/>
            </a:xfrm>
            <a:prstGeom prst="rect">
              <a:avLst/>
            </a:prstGeom>
          </p:spPr>
        </p:pic>
        <p:sp>
          <p:nvSpPr>
            <p:cNvPr id="2" name="Elipse 1">
              <a:extLst>
                <a:ext uri="{FF2B5EF4-FFF2-40B4-BE49-F238E27FC236}">
                  <a16:creationId xmlns:a16="http://schemas.microsoft.com/office/drawing/2014/main" id="{3AA173C1-E213-1CD8-F78A-EC77145AE76F}"/>
                </a:ext>
              </a:extLst>
            </p:cNvPr>
            <p:cNvSpPr/>
            <p:nvPr/>
          </p:nvSpPr>
          <p:spPr>
            <a:xfrm>
              <a:off x="4918364" y="2091984"/>
              <a:ext cx="526473" cy="48490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A73D8623-1205-0DEF-329C-E80A493AC7C6}"/>
                </a:ext>
              </a:extLst>
            </p:cNvPr>
            <p:cNvSpPr/>
            <p:nvPr/>
          </p:nvSpPr>
          <p:spPr>
            <a:xfrm>
              <a:off x="997527" y="3186545"/>
              <a:ext cx="1357746" cy="88669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B2126F15-05CA-8F80-003D-08CAA0ABB77B}"/>
                </a:ext>
              </a:extLst>
            </p:cNvPr>
            <p:cNvSpPr/>
            <p:nvPr/>
          </p:nvSpPr>
          <p:spPr>
            <a:xfrm>
              <a:off x="6121761" y="2598516"/>
              <a:ext cx="1567728" cy="64418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A4560F4A-FC54-E2C4-7E9F-85E742F7D923}"/>
                </a:ext>
              </a:extLst>
            </p:cNvPr>
            <p:cNvSpPr/>
            <p:nvPr/>
          </p:nvSpPr>
          <p:spPr>
            <a:xfrm>
              <a:off x="10160089" y="3889260"/>
              <a:ext cx="1258599" cy="62875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746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E4B1C3F9-1774-451C-AF2B-AF0BDDDF0FE2}"/>
              </a:ext>
            </a:extLst>
          </p:cNvPr>
          <p:cNvSpPr txBox="1"/>
          <p:nvPr/>
        </p:nvSpPr>
        <p:spPr>
          <a:xfrm>
            <a:off x="2056261" y="5351661"/>
            <a:ext cx="92490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Seleccionando la opción del menú contextual </a:t>
            </a:r>
            <a:r>
              <a:rPr kumimoji="0" lang="es-E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Team</a:t>
            </a:r>
            <a:r>
              <a:rPr kumimoji="0" lang="es-E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&gt; Show in </a:t>
            </a:r>
            <a:r>
              <a:rPr kumimoji="0" lang="es-ES" sz="1800" b="1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History</a:t>
            </a:r>
            <a:r>
              <a:rPr kumimoji="0" lang="es-E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 puede visualizar el historial de versiones de un fichero. Se puede navegar por las distintas versiones y observar las modificaciones que incorpora cada versión en relación con la anterior.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2047C61-A4BC-4668-7C70-E93AD672E5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273"/>
          <a:stretch/>
        </p:blipFill>
        <p:spPr>
          <a:xfrm>
            <a:off x="1939637" y="306010"/>
            <a:ext cx="9753600" cy="497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7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DEAF32D-B164-BEFC-777B-0DBB07D94D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667"/>
          <a:stretch/>
        </p:blipFill>
        <p:spPr>
          <a:xfrm>
            <a:off x="1233054" y="1022504"/>
            <a:ext cx="10668000" cy="547800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255CE9A-BA4C-5A76-8BFD-C582A363B7BF}"/>
              </a:ext>
            </a:extLst>
          </p:cNvPr>
          <p:cNvSpPr txBox="1"/>
          <p:nvPr/>
        </p:nvSpPr>
        <p:spPr>
          <a:xfrm>
            <a:off x="2250226" y="99174"/>
            <a:ext cx="8079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Escribo una nueva línea en mi clase principal y hago de nuevo </a:t>
            </a:r>
            <a:r>
              <a:rPr kumimoji="0" lang="es-E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commit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En este caso le pongo el mensaje V2-nueva línea</a:t>
            </a:r>
          </a:p>
        </p:txBody>
      </p:sp>
    </p:spTree>
    <p:extLst>
      <p:ext uri="{BB962C8B-B14F-4D97-AF65-F5344CB8AC3E}">
        <p14:creationId xmlns:p14="http://schemas.microsoft.com/office/powerpoint/2010/main" val="409085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E4B1C3F9-1774-451C-AF2B-AF0BDDDF0FE2}"/>
              </a:ext>
            </a:extLst>
          </p:cNvPr>
          <p:cNvSpPr txBox="1"/>
          <p:nvPr/>
        </p:nvSpPr>
        <p:spPr>
          <a:xfrm>
            <a:off x="926617" y="5934670"/>
            <a:ext cx="107740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Historial de versiones de un fichero: si se hace doble clic sobre uno de los </a:t>
            </a:r>
            <a:r>
              <a:rPr kumimoji="0" lang="es-ES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commits</a:t>
            </a:r>
            <a:r>
              <a:rPr kumimoji="0" lang="es-E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se puede ver en detalle los cambios realizados en esa versión.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CD20C18-70D2-4B8B-1CDA-E797CE06A1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857"/>
          <a:stretch/>
        </p:blipFill>
        <p:spPr>
          <a:xfrm>
            <a:off x="1510748" y="276999"/>
            <a:ext cx="9925878" cy="503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329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4</TotalTime>
  <Words>1811</Words>
  <Application>Microsoft Office PowerPoint</Application>
  <PresentationFormat>Panorámica</PresentationFormat>
  <Paragraphs>126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5" baseType="lpstr">
      <vt:lpstr>Aharoni</vt:lpstr>
      <vt:lpstr>Arial</vt:lpstr>
      <vt:lpstr>Century Gothic</vt:lpstr>
      <vt:lpstr>Didact Gothic</vt:lpstr>
      <vt:lpstr>Exo</vt:lpstr>
      <vt:lpstr>Georgia</vt:lpstr>
      <vt:lpstr>lato</vt:lpstr>
      <vt:lpstr>Wingdings</vt:lpstr>
      <vt:lpstr>Wingdings 3</vt:lpstr>
      <vt:lpstr>Espiral</vt:lpstr>
      <vt:lpstr>TEMA 4  CONTROL DE VERSIONES,  OPTIMIZACIÓN Y DOCUMENTACIÓN</vt:lpstr>
      <vt:lpstr>Índice</vt:lpstr>
      <vt:lpstr>1. Introducción</vt:lpstr>
      <vt:lpstr>1. Introducción</vt:lpstr>
      <vt:lpstr>2. Control de Versiones</vt:lpstr>
      <vt:lpstr>2. Control de Versiones</vt:lpstr>
      <vt:lpstr>2. Control de Versiones</vt:lpstr>
      <vt:lpstr>2. Control de Versiones</vt:lpstr>
      <vt:lpstr>2. Control de Versiones </vt:lpstr>
      <vt:lpstr>2. Control de Versiones </vt:lpstr>
      <vt:lpstr>2. Control de Versiones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BLANCA PLUMED LORENTE</cp:lastModifiedBy>
  <cp:revision>2</cp:revision>
  <dcterms:created xsi:type="dcterms:W3CDTF">2023-02-12T21:33:31Z</dcterms:created>
  <dcterms:modified xsi:type="dcterms:W3CDTF">2024-02-27T09:44:16Z</dcterms:modified>
</cp:coreProperties>
</file>